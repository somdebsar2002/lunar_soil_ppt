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7559675" cy="106918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550822-6046-4D1C-99D1-8FB3337C2CED}">
  <a:tblStyle styleId="{10550822-6046-4D1C-99D1-8FB3337C2CE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Play-bold.fntdata"/><Relationship Id="rId10" Type="http://schemas.openxmlformats.org/officeDocument/2006/relationships/slide" Target="slides/slide4.xml"/><Relationship Id="rId21" Type="http://schemas.openxmlformats.org/officeDocument/2006/relationships/font" Target="fonts/Play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e64358ad4_0_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2e64358ad4_0_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e64358ad4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2e64358ad4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e8da4d335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2e8da4d335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e64358ad4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2e64358ad4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3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2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4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2"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3"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4"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5"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6"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7F-wsVIEpOd60iWPek7RevHiC7xmVugj/view" TargetMode="External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IQDwq3Kr5oybW7YiF09jmEkkZVhg-WWQ/view" TargetMode="External"/><Relationship Id="rId4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3QWBVt9itiJT7fuo8oMP6e9HtCBE4QRI/view" TargetMode="External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20mm02003@iitbbs.ac.in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/>
        </p:nvSpPr>
        <p:spPr>
          <a:xfrm>
            <a:off x="1352520" y="189396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Reports for Master’s Thesis and One Way DEM-FEM coupling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Objective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8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Rotational Torque and Stress: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Char char="o"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Investigate whether the lander experiences rotational torque or significant stress during impact, assessing the potential risks of toppling or other stability concerns.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Reconstruct Lunar Soil Profile: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Char char="o"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an accurate lunar soil model based on scientifically validated data from peer-reviewed research, ensuring realistic simulations of soil properties.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Quantify Soil-Structure Interactions: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Char char="o"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stress distributions and void fractions in the lunar soil during the impact event to deepen the understanding of soil-structure interactions and their implications for lander design and safety.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Why DEM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9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Discrete Element Method (DEM) is ideal for modeling systems involving separate, discrete particles, such as colloids, </a:t>
            </a: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granular materials</a:t>
            </a: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powders, blocky or jointed rock masses, and bulk materials in storage.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simulation of rocky particles, DEM accurately represents spherical particles, making it particularly suitable for studying interactions with objects like a lunar footpad. This technique excels in capturing key dynamics such as torque and normal stress, which are crucial for analyzing the mechanical impact on the lunar surface.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" name="Google Shape;135;p30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36" name="Google Shape;136;p30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0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0B76A0">
                <a:alpha val="666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30"/>
          <p:cNvSpPr txBox="1"/>
          <p:nvPr/>
        </p:nvSpPr>
        <p:spPr>
          <a:xfrm>
            <a:off x="722160" y="376200"/>
            <a:ext cx="11089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Why LIGGGHTS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Description automatically generated" id="139" name="Google Shape;139;p30"/>
          <p:cNvPicPr preferRelativeResize="0"/>
          <p:nvPr/>
        </p:nvPicPr>
        <p:blipFill rotWithShape="1">
          <a:blip r:embed="rId3">
            <a:alphaModFix/>
          </a:blip>
          <a:srcRect b="-204" l="2940" r="102" t="0"/>
          <a:stretch/>
        </p:blipFill>
        <p:spPr>
          <a:xfrm>
            <a:off x="417600" y="2733120"/>
            <a:ext cx="3688560" cy="3659760"/>
          </a:xfrm>
          <a:prstGeom prst="rect">
            <a:avLst/>
          </a:prstGeom>
          <a:noFill/>
          <a:ln>
            <a:noFill/>
          </a:ln>
          <a:effectLst>
            <a:outerShdw dir="5400000" dist="101520">
              <a:srgbClr val="000000">
                <a:alpha val="9803"/>
              </a:srgbClr>
            </a:outerShdw>
          </a:effectLst>
        </p:spPr>
      </p:pic>
      <p:pic>
        <p:nvPicPr>
          <p:cNvPr descr="A screenshot of a computer&#10;&#10;Description automatically generated" id="140" name="Google Shape;140;p30"/>
          <p:cNvPicPr preferRelativeResize="0"/>
          <p:nvPr/>
        </p:nvPicPr>
        <p:blipFill rotWithShape="1">
          <a:blip r:embed="rId4">
            <a:alphaModFix/>
          </a:blip>
          <a:srcRect b="14375" l="7372" r="0" t="0"/>
          <a:stretch/>
        </p:blipFill>
        <p:spPr>
          <a:xfrm>
            <a:off x="8284320" y="4134600"/>
            <a:ext cx="3551760" cy="261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1" name="Google Shape;141;p30"/>
          <p:cNvPicPr preferRelativeResize="0"/>
          <p:nvPr/>
        </p:nvPicPr>
        <p:blipFill rotWithShape="1">
          <a:blip r:embed="rId5">
            <a:alphaModFix/>
          </a:blip>
          <a:srcRect b="199" l="12389" r="8258" t="0"/>
          <a:stretch/>
        </p:blipFill>
        <p:spPr>
          <a:xfrm>
            <a:off x="8349480" y="1886040"/>
            <a:ext cx="3206880" cy="1996560"/>
          </a:xfrm>
          <a:prstGeom prst="rect">
            <a:avLst/>
          </a:prstGeom>
          <a:noFill/>
          <a:ln>
            <a:noFill/>
          </a:ln>
          <a:effectLst>
            <a:outerShdw dir="5400000" dist="101520">
              <a:srgbClr val="000000">
                <a:alpha val="9803"/>
              </a:srgbClr>
            </a:outerShdw>
          </a:effectLst>
        </p:spPr>
      </p:pic>
      <p:pic>
        <p:nvPicPr>
          <p:cNvPr descr="A screenshot of a computer&#10;&#10;Description automatically generated" id="142" name="Google Shape;142;p30"/>
          <p:cNvPicPr preferRelativeResize="0"/>
          <p:nvPr/>
        </p:nvPicPr>
        <p:blipFill rotWithShape="1">
          <a:blip r:embed="rId6">
            <a:alphaModFix/>
          </a:blip>
          <a:srcRect b="-195" l="5329" r="9472" t="0"/>
          <a:stretch/>
        </p:blipFill>
        <p:spPr>
          <a:xfrm>
            <a:off x="3996360" y="2729520"/>
            <a:ext cx="4120560" cy="3421800"/>
          </a:xfrm>
          <a:prstGeom prst="rect">
            <a:avLst/>
          </a:prstGeom>
          <a:noFill/>
          <a:ln>
            <a:noFill/>
          </a:ln>
          <a:effectLst>
            <a:outerShdw dir="5400000" dist="101520">
              <a:srgbClr val="000000">
                <a:alpha val="9803"/>
              </a:srgbClr>
            </a:outerShdw>
          </a:effectLst>
        </p:spPr>
      </p:pic>
      <p:sp>
        <p:nvSpPr>
          <p:cNvPr id="143" name="Google Shape;143;p30"/>
          <p:cNvSpPr/>
          <p:nvPr/>
        </p:nvSpPr>
        <p:spPr>
          <a:xfrm>
            <a:off x="914400" y="1047600"/>
            <a:ext cx="3362040" cy="1209240"/>
          </a:xfrm>
          <a:prstGeom prst="cloud">
            <a:avLst/>
          </a:prstGeom>
          <a:solidFill>
            <a:srgbClr val="FFFFFF"/>
          </a:solidFill>
          <a:ln cap="flat" cmpd="sng" w="19075">
            <a:solidFill>
              <a:srgbClr val="AEAEA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0"/>
          <p:cNvSpPr/>
          <p:nvPr/>
        </p:nvSpPr>
        <p:spPr>
          <a:xfrm>
            <a:off x="4905360" y="1009800"/>
            <a:ext cx="2381040" cy="1485720"/>
          </a:xfrm>
          <a:prstGeom prst="cloud">
            <a:avLst/>
          </a:prstGeom>
          <a:solidFill>
            <a:srgbClr val="FFFFFF"/>
          </a:solidFill>
          <a:ln cap="flat" cmpd="sng" w="19075">
            <a:solidFill>
              <a:srgbClr val="AEAEA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0"/>
          <p:cNvSpPr/>
          <p:nvPr/>
        </p:nvSpPr>
        <p:spPr>
          <a:xfrm>
            <a:off x="9487080" y="428760"/>
            <a:ext cx="2066400" cy="1352160"/>
          </a:xfrm>
          <a:prstGeom prst="cloud">
            <a:avLst/>
          </a:prstGeom>
          <a:solidFill>
            <a:srgbClr val="FFFFFF"/>
          </a:solidFill>
          <a:ln cap="flat" cmpd="sng" w="19075">
            <a:solidFill>
              <a:srgbClr val="AEAEA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0"/>
          <p:cNvSpPr/>
          <p:nvPr/>
        </p:nvSpPr>
        <p:spPr>
          <a:xfrm>
            <a:off x="6058080" y="6153120"/>
            <a:ext cx="2018880" cy="704520"/>
          </a:xfrm>
          <a:prstGeom prst="cloud">
            <a:avLst/>
          </a:prstGeom>
          <a:solidFill>
            <a:srgbClr val="FFFFFF"/>
          </a:solidFill>
          <a:ln cap="flat" cmpd="sng" w="19075">
            <a:solidFill>
              <a:srgbClr val="AEAEA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0"/>
          <p:cNvSpPr/>
          <p:nvPr/>
        </p:nvSpPr>
        <p:spPr>
          <a:xfrm>
            <a:off x="1358280" y="1186920"/>
            <a:ext cx="2742840" cy="6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to code Commands and Tutorials are available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0"/>
          <p:cNvSpPr/>
          <p:nvPr/>
        </p:nvSpPr>
        <p:spPr>
          <a:xfrm>
            <a:off x="5335920" y="1321920"/>
            <a:ext cx="185148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DEM Resarch Papers relies on this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0"/>
          <p:cNvSpPr/>
          <p:nvPr/>
        </p:nvSpPr>
        <p:spPr>
          <a:xfrm>
            <a:off x="9740160" y="516240"/>
            <a:ext cx="1897200" cy="91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Open-sourced and has parallelisable features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0"/>
          <p:cNvSpPr/>
          <p:nvPr/>
        </p:nvSpPr>
        <p:spPr>
          <a:xfrm>
            <a:off x="6204600" y="6216120"/>
            <a:ext cx="17978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Forums are available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30"/>
          <p:cNvCxnSpPr/>
          <p:nvPr/>
        </p:nvCxnSpPr>
        <p:spPr>
          <a:xfrm flipH="1">
            <a:off x="1705020" y="2247840"/>
            <a:ext cx="752700" cy="495600"/>
          </a:xfrm>
          <a:prstGeom prst="curvedConnector3">
            <a:avLst>
              <a:gd fmla="val 50000" name="adj1"/>
            </a:avLst>
          </a:prstGeom>
          <a:noFill/>
          <a:ln cap="flat" cmpd="sng" w="19075">
            <a:solidFill>
              <a:srgbClr val="15608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2" name="Google Shape;152;p30"/>
          <p:cNvCxnSpPr/>
          <p:nvPr/>
        </p:nvCxnSpPr>
        <p:spPr>
          <a:xfrm rot="-5400000">
            <a:off x="7576920" y="5777040"/>
            <a:ext cx="1248000" cy="171600"/>
          </a:xfrm>
          <a:prstGeom prst="curvedConnector3">
            <a:avLst>
              <a:gd fmla="val 50000" name="adj1"/>
            </a:avLst>
          </a:prstGeom>
          <a:noFill/>
          <a:ln cap="flat" cmpd="sng" w="19075">
            <a:solidFill>
              <a:srgbClr val="15608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3" name="Google Shape;153;p30"/>
          <p:cNvSpPr/>
          <p:nvPr/>
        </p:nvSpPr>
        <p:spPr>
          <a:xfrm>
            <a:off x="11546280" y="935280"/>
            <a:ext cx="586440" cy="156348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156082"/>
          </a:solidFill>
          <a:ln cap="flat" cmpd="sng" w="19075">
            <a:solidFill>
              <a:srgbClr val="092A3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30"/>
          <p:cNvCxnSpPr/>
          <p:nvPr/>
        </p:nvCxnSpPr>
        <p:spPr>
          <a:xfrm>
            <a:off x="7553160" y="1895400"/>
            <a:ext cx="360" cy="848160"/>
          </a:xfrm>
          <a:prstGeom prst="straightConnector1">
            <a:avLst/>
          </a:prstGeom>
          <a:noFill/>
          <a:ln cap="flat" cmpd="sng" w="19075">
            <a:solidFill>
              <a:srgbClr val="15608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5" name="Google Shape;155;p30"/>
          <p:cNvCxnSpPr/>
          <p:nvPr/>
        </p:nvCxnSpPr>
        <p:spPr>
          <a:xfrm>
            <a:off x="7315200" y="1800000"/>
            <a:ext cx="266760" cy="114840"/>
          </a:xfrm>
          <a:prstGeom prst="straightConnector1">
            <a:avLst/>
          </a:prstGeom>
          <a:noFill/>
          <a:ln cap="flat" cmpd="sng" w="19075">
            <a:solidFill>
              <a:srgbClr val="156082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31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62" name="Google Shape;162;p31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1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0B76A0">
                <a:alpha val="666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31"/>
          <p:cNvSpPr txBox="1"/>
          <p:nvPr/>
        </p:nvSpPr>
        <p:spPr>
          <a:xfrm>
            <a:off x="369720" y="-81000"/>
            <a:ext cx="11089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About Hertz Tangential Model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oup of mathematical equations&#10;&#10;Description automatically generated" id="165" name="Google Shape;16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480" y="3428280"/>
            <a:ext cx="3688560" cy="3202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n model hertz model — LIGGGHTS v3.X documentation" id="166" name="Google Shape;16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600" y="592200"/>
            <a:ext cx="6617160" cy="2564640"/>
          </a:xfrm>
          <a:prstGeom prst="rect">
            <a:avLst/>
          </a:prstGeom>
          <a:noFill/>
          <a:ln>
            <a:noFill/>
          </a:ln>
          <a:effectLst>
            <a:outerShdw dir="5400000" dist="101520">
              <a:srgbClr val="000000">
                <a:alpha val="9803"/>
              </a:srgbClr>
            </a:outerShdw>
          </a:effectLst>
        </p:spPr>
      </p:pic>
      <p:pic>
        <p:nvPicPr>
          <p:cNvPr descr="IBM-LBM-DEM Study of Two-Particle Sedimentation: Drafting-Kissing-Tumbling  and Effects of Particle Reynolds Number and Initial Positions of Particles" id="167" name="Google Shape;16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6400" y="2336760"/>
            <a:ext cx="5937840" cy="4217040"/>
          </a:xfrm>
          <a:prstGeom prst="rect">
            <a:avLst/>
          </a:prstGeom>
          <a:noFill/>
          <a:ln>
            <a:noFill/>
          </a:ln>
          <a:effectLst>
            <a:outerShdw dir="5400000" dist="101520">
              <a:srgbClr val="000000">
                <a:alpha val="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2"/>
          <p:cNvSpPr txBox="1"/>
          <p:nvPr/>
        </p:nvSpPr>
        <p:spPr>
          <a:xfrm>
            <a:off x="838080" y="365040"/>
            <a:ext cx="10515240" cy="18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Size distribution Analysis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80" y="1993680"/>
            <a:ext cx="5674320" cy="4319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with different colored lines&#10;&#10;Description automatically generated" id="175" name="Google Shape;17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1960" y="1565280"/>
            <a:ext cx="5814360" cy="4738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2"/>
          <p:cNvSpPr/>
          <p:nvPr/>
        </p:nvSpPr>
        <p:spPr>
          <a:xfrm>
            <a:off x="7202880" y="6313320"/>
            <a:ext cx="2895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Particle size in µm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/>
          <p:nvPr/>
        </p:nvSpPr>
        <p:spPr>
          <a:xfrm rot="-5400000">
            <a:off x="4867200" y="3904200"/>
            <a:ext cx="20779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Cumulative %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with lines and dots&#10;&#10;Description automatically generated" id="182" name="Google Shape;1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7480" y="1356480"/>
            <a:ext cx="5336280" cy="200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table with numbers and a yellow stripe&#10;&#10;Description automatically generated" id="183" name="Google Shape;183;p33"/>
          <p:cNvPicPr preferRelativeResize="0"/>
          <p:nvPr/>
        </p:nvPicPr>
        <p:blipFill rotWithShape="1">
          <a:blip r:embed="rId4">
            <a:alphaModFix/>
          </a:blip>
          <a:srcRect b="55038" l="0" r="0" t="0"/>
          <a:stretch/>
        </p:blipFill>
        <p:spPr>
          <a:xfrm>
            <a:off x="385920" y="3562200"/>
            <a:ext cx="5628960" cy="288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table with numbers and a yellow background&#10;&#10;Description automatically generated" id="184" name="Google Shape;18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9800" y="3548160"/>
            <a:ext cx="5638320" cy="3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3"/>
          <p:cNvSpPr/>
          <p:nvPr/>
        </p:nvSpPr>
        <p:spPr>
          <a:xfrm>
            <a:off x="777960" y="262080"/>
            <a:ext cx="9690480" cy="57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Calculation of Weight Fraction distribution of Particles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" name="Google Shape;186;p33"/>
          <p:cNvGraphicFramePr/>
          <p:nvPr/>
        </p:nvGraphicFramePr>
        <p:xfrm>
          <a:off x="306720" y="1484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{10550822-6046-4D1C-99D1-8FB3337C2CED}</a:tableStyleId>
              </a:tblPr>
              <a:tblGrid>
                <a:gridCol w="1141200"/>
                <a:gridCol w="1141200"/>
                <a:gridCol w="1141200"/>
                <a:gridCol w="1141200"/>
                <a:gridCol w="1141200"/>
              </a:tblGrid>
              <a:tr h="93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1mm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1.5mm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3mm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7mm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10mm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1"/>
                    </a:solidFill>
                  </a:tcPr>
                </a:tc>
              </a:tr>
              <a:tr h="93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88%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4%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3%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3%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2%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4"/>
          <p:cNvSpPr/>
          <p:nvPr/>
        </p:nvSpPr>
        <p:spPr>
          <a:xfrm>
            <a:off x="1188000" y="381960"/>
            <a:ext cx="935568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Lunar Soil Properties used for DEM Simulation</a:t>
            </a:r>
            <a:endParaRPr b="0" i="0" sz="3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34"/>
          <p:cNvGrpSpPr/>
          <p:nvPr/>
        </p:nvGrpSpPr>
        <p:grpSpPr>
          <a:xfrm>
            <a:off x="10994040" y="554040"/>
            <a:ext cx="573840" cy="1075680"/>
            <a:chOff x="10994040" y="554040"/>
            <a:chExt cx="573840" cy="1075680"/>
          </a:xfrm>
        </p:grpSpPr>
        <p:sp>
          <p:nvSpPr>
            <p:cNvPr id="194" name="Google Shape;194;p34"/>
            <p:cNvSpPr/>
            <p:nvPr/>
          </p:nvSpPr>
          <p:spPr>
            <a:xfrm>
              <a:off x="11013480" y="554040"/>
              <a:ext cx="171000" cy="171000"/>
            </a:xfrm>
            <a:custGeom>
              <a:rect b="b" l="l" r="r" t="t"/>
              <a:pathLst>
                <a:path extrusionOk="0" h="171515" w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rgbClr val="E971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4"/>
            <p:cNvSpPr/>
            <p:nvPr/>
          </p:nvSpPr>
          <p:spPr>
            <a:xfrm>
              <a:off x="11455920" y="837000"/>
              <a:ext cx="111960" cy="111960"/>
            </a:xfrm>
            <a:custGeom>
              <a:rect b="b" l="l" r="r" t="t"/>
              <a:pathLst>
                <a:path extrusionOk="0" h="112426" w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rgbClr val="E971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4"/>
            <p:cNvSpPr/>
            <p:nvPr/>
          </p:nvSpPr>
          <p:spPr>
            <a:xfrm>
              <a:off x="10994040" y="1472400"/>
              <a:ext cx="157320" cy="157320"/>
            </a:xfrm>
            <a:custGeom>
              <a:rect b="b" l="l" r="r" t="t"/>
              <a:pathLst>
                <a:path extrusionOk="0" h="157545" w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rgbClr val="E971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7" name="Google Shape;197;p34"/>
          <p:cNvCxnSpPr/>
          <p:nvPr/>
        </p:nvCxnSpPr>
        <p:spPr>
          <a:xfrm>
            <a:off x="623520" y="3610080"/>
            <a:ext cx="360" cy="3239280"/>
          </a:xfrm>
          <a:prstGeom prst="straightConnector1">
            <a:avLst/>
          </a:prstGeom>
          <a:noFill/>
          <a:ln cap="flat" cmpd="sng" w="25550">
            <a:solidFill>
              <a:srgbClr val="156082"/>
            </a:solidFill>
            <a:prstDash val="solid"/>
            <a:bevel/>
            <a:headEnd len="sm" w="sm" type="none"/>
            <a:tailEnd len="sm" w="sm" type="none"/>
          </a:ln>
        </p:spPr>
      </p:cxnSp>
      <p:graphicFrame>
        <p:nvGraphicFramePr>
          <p:cNvPr id="198" name="Google Shape;198;p34"/>
          <p:cNvGraphicFramePr/>
          <p:nvPr/>
        </p:nvGraphicFramePr>
        <p:xfrm>
          <a:off x="1188000" y="2162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{10550822-6046-4D1C-99D1-8FB3337C2CED}</a:tableStyleId>
              </a:tblPr>
              <a:tblGrid>
                <a:gridCol w="3939475"/>
                <a:gridCol w="5416200"/>
              </a:tblGrid>
              <a:tr h="62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Paramaters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  <a:tr h="62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Solid Density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3100 Kg/m</a:t>
                      </a:r>
                      <a:r>
                        <a:rPr b="0" baseline="3000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</a:tr>
              <a:tr h="62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Youngs Modulus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MPa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C"/>
                    </a:solidFill>
                  </a:tcPr>
                </a:tc>
              </a:tr>
              <a:tr h="62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Poisson's ratio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0.22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</a:tr>
              <a:tr h="62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Coefficient of Restitution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0.35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C"/>
                    </a:solidFill>
                  </a:tcPr>
                </a:tc>
              </a:tr>
              <a:tr h="62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Coefficient of static friction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0.44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</a:tr>
              <a:tr h="6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Pair Style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Granular model with Hertz Tangential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0600" marL="120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5"/>
          <p:cNvSpPr txBox="1"/>
          <p:nvPr/>
        </p:nvSpPr>
        <p:spPr>
          <a:xfrm>
            <a:off x="838080" y="365040"/>
            <a:ext cx="10515240" cy="18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Packing Fraction Estimation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80" y="2666160"/>
            <a:ext cx="5828040" cy="3336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table with numbers and text&#10;&#10;Description automatically generated" id="206" name="Google Shape;20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2640" y="3496680"/>
            <a:ext cx="5828040" cy="1675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/>
        </p:nvSpPr>
        <p:spPr>
          <a:xfrm>
            <a:off x="329800" y="135800"/>
            <a:ext cx="11145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Mid Term Follow-on Report</a:t>
            </a:r>
            <a:endParaRPr sz="1800"/>
          </a:p>
        </p:txBody>
      </p:sp>
      <p:pic>
        <p:nvPicPr>
          <p:cNvPr id="212" name="Google Shape;212;p36" title="mid_term_presentation_repor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47000"/>
            <a:ext cx="11887199" cy="596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/>
        </p:nvSpPr>
        <p:spPr>
          <a:xfrm>
            <a:off x="873025" y="213400"/>
            <a:ext cx="9156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End-Mid Term Report</a:t>
            </a:r>
            <a:endParaRPr sz="1800"/>
          </a:p>
        </p:txBody>
      </p:sp>
      <p:pic>
        <p:nvPicPr>
          <p:cNvPr id="218" name="Google Shape;218;p37" title="report_presentation_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89600"/>
            <a:ext cx="11887199" cy="5094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8" title="4_depth_0..5_interaction_volum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05875"/>
            <a:ext cx="11887199" cy="509451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8"/>
          <p:cNvSpPr txBox="1"/>
          <p:nvPr/>
        </p:nvSpPr>
        <p:spPr>
          <a:xfrm>
            <a:off x="597725" y="230700"/>
            <a:ext cx="10800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Interaction Volume under high-depth condition(For studying the effect of depth and Width)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/>
        </p:nvSpPr>
        <p:spPr>
          <a:xfrm>
            <a:off x="203700" y="242500"/>
            <a:ext cx="11727600" cy="6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Dear Sir/Ma’am/My Friend,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I Know Some of us might wonder </a:t>
            </a:r>
            <a:r>
              <a:rPr i="1" lang="en-GB" sz="1800"/>
              <a:t>about</a:t>
            </a:r>
            <a:r>
              <a:rPr i="1" lang="en-GB" sz="1800"/>
              <a:t> some important details or aspects of this </a:t>
            </a:r>
            <a:r>
              <a:rPr i="1" lang="en-GB" sz="1800"/>
              <a:t>Master's</a:t>
            </a:r>
            <a:r>
              <a:rPr i="1" lang="en-GB" sz="1800"/>
              <a:t> Thesis Report or the other. In these Cases, I am much eagerly waiting for the opportunity to answer the questions that is raised about it. I am ready to answer each and every question of this topic. Please reach out to me during the interview or via mail at </a:t>
            </a:r>
            <a:r>
              <a:rPr i="1" lang="en-GB" sz="1800" u="sng">
                <a:solidFill>
                  <a:schemeClr val="hlink"/>
                </a:solidFill>
                <a:hlinkClick r:id="rId3"/>
              </a:rPr>
              <a:t>20mm02003@iitbbs.ac.in</a:t>
            </a:r>
            <a:r>
              <a:rPr i="1" lang="en-GB" sz="1800"/>
              <a:t>(Institute Email ID) for the same. I am waiting on the </a:t>
            </a:r>
            <a:r>
              <a:rPr i="1" lang="en-GB" sz="1800"/>
              <a:t>other side</a:t>
            </a:r>
            <a:r>
              <a:rPr i="1" lang="en-GB" sz="1800"/>
              <a:t> to connect with you in this regard.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Thanking You,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Somdeb Sar.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(A Dual Degree Student)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IIT</a:t>
            </a:r>
            <a:r>
              <a:rPr i="1" lang="en-GB" sz="1800"/>
              <a:t>-BBSR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School of Metallurgical Minerals and Materials Science and Engineering.</a:t>
            </a:r>
            <a:endParaRPr i="1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References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0"/>
          <p:cNvSpPr txBox="1"/>
          <p:nvPr/>
        </p:nvSpPr>
        <p:spPr>
          <a:xfrm>
            <a:off x="1047600" y="1825560"/>
            <a:ext cx="10305720" cy="317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PROPERTIES OF THE LUNAR SURFACE W. David Carrier III, Gary R. Olhoeft, and Wendell Mendell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Briefing Topic: Parameters of Lunar Soils David A. Kring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and Mechanical Properties of the Lunar Soil (A Review) E. N. Slyuta Vernadsky Institute of Geochemistry and Analytical Chemistry, Russian Academy of Sciences, ul. Kosygina 19, Moscow, 119991 Russia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Pre-Landing Assessment of Regolith Properties at the InSight Landing Site Paul Morgan1 · Matthias Grott2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Theoretical and discrete element simulation studies of aircraft landing impact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Simulation and Research on Landing Impact between Lander and Lunar Regolith Based on DEM Xuyan Hou, Pingping Xue, Kailiang Zhang, Kaidi Zhang, Ping Liang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